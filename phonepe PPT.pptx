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3" r:id="rId8"/>
    <p:sldId id="264" r:id="rId9"/>
    <p:sldId id="267" r:id="rId10"/>
    <p:sldId id="270" r:id="rId11"/>
    <p:sldId id="272" r:id="rId12"/>
    <p:sldId id="273" r:id="rId13"/>
    <p:sldId id="278" r:id="rId14"/>
    <p:sldId id="279" r:id="rId15"/>
    <p:sldId id="275" r:id="rId16"/>
    <p:sldId id="277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5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rcRect b="3795"/>
          <a:stretch>
            <a:fillRect/>
          </a:stretch>
        </p:blipFill>
        <p:spPr>
          <a:xfrm>
            <a:off x="0" y="260350"/>
            <a:ext cx="12192000" cy="6597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620713"/>
            <a:ext cx="10943167" cy="1082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noProof="0"/>
              <a:t>Click to edit Master title style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1843088"/>
            <a:ext cx="10949517" cy="981075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altLang="zh-CN" noProof="0"/>
              <a:t>Click to edit Master subtitle style</a:t>
            </a:r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C8E0647-654F-4311-BDFC-1F0C3C68260B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2BB76794-A35A-482F-8947-72C059BC231A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E0647-654F-4311-BDFC-1F0C3C68260B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6794-A35A-482F-8947-72C059BC231A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E0647-654F-4311-BDFC-1F0C3C68260B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6794-A35A-482F-8947-72C059BC231A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E0647-654F-4311-BDFC-1F0C3C68260B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6794-A35A-482F-8947-72C059BC231A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E0647-654F-4311-BDFC-1F0C3C68260B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6794-A35A-482F-8947-72C059BC231A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E0647-654F-4311-BDFC-1F0C3C68260B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6794-A35A-482F-8947-72C059BC231A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E0647-654F-4311-BDFC-1F0C3C68260B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6794-A35A-482F-8947-72C059BC231A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E0647-654F-4311-BDFC-1F0C3C68260B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6794-A35A-482F-8947-72C059BC231A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E0647-654F-4311-BDFC-1F0C3C68260B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6794-A35A-482F-8947-72C059BC231A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E0647-654F-4311-BDFC-1F0C3C68260B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6794-A35A-482F-8947-72C059BC231A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E0647-654F-4311-BDFC-1F0C3C68260B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6794-A35A-482F-8947-72C059BC231A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CC8E0647-654F-4311-BDFC-1F0C3C68260B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GB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2BB76794-A35A-482F-8947-72C059BC231A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59746" y="666964"/>
            <a:ext cx="8825658" cy="3329581"/>
          </a:xfrm>
        </p:spPr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PHONEPE</a:t>
            </a:r>
            <a:r>
              <a:rPr lang="en-GB" dirty="0"/>
              <a:t> TRANSACTION INSIGHTS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3310" y="4181479"/>
            <a:ext cx="8825658" cy="861420"/>
          </a:xfrm>
        </p:spPr>
        <p:txBody>
          <a:bodyPr>
            <a:noAutofit/>
          </a:bodyPr>
          <a:lstStyle/>
          <a:p>
            <a:r>
              <a:rPr lang="en-IN" altLang="en-GB" sz="2800" dirty="0"/>
              <a:t>MINI PROJECT - 1</a:t>
            </a:r>
            <a:endParaRPr lang="en-GB" sz="2800" dirty="0"/>
          </a:p>
          <a:p>
            <a:endParaRPr lang="en-GB" sz="2800" dirty="0"/>
          </a:p>
          <a:p>
            <a:r>
              <a:rPr lang="en-GB" sz="2800" dirty="0"/>
              <a:t>BY </a:t>
            </a:r>
            <a:r>
              <a:rPr lang="en-IN" sz="2800"/>
              <a:t>JAYASEELI S</a:t>
            </a:r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0364470" y="30899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work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4575" y="1530985"/>
            <a:ext cx="8946515" cy="5093335"/>
          </a:xfrm>
        </p:spPr>
        <p:txBody>
          <a:bodyPr>
            <a:normAutofit fontScale="25000" lnSpcReduction="20000"/>
          </a:bodyPr>
          <a:lstStyle/>
          <a:p>
            <a:pPr algn="justLow"/>
            <a:r>
              <a:rPr lang="en-GB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Extraction</a:t>
            </a:r>
          </a:p>
          <a:p>
            <a:pPr marL="0" indent="0" algn="l">
              <a:buFont typeface="Wingdings" panose="05000000000000000000" charset="0"/>
              <a:buNone/>
            </a:pPr>
            <a:r>
              <a:rPr lang="en-GB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Cloned and extracted Phone Pe Pulse data from the official GitHub repository.</a:t>
            </a:r>
          </a:p>
          <a:p>
            <a:pPr algn="justLow"/>
            <a:r>
              <a:rPr lang="en-GB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Transformation</a:t>
            </a:r>
          </a:p>
          <a:p>
            <a:pPr marL="0" indent="0" algn="justLow">
              <a:buNone/>
            </a:pPr>
            <a:r>
              <a:rPr lang="en-GB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Parsed JSON files and converted them into structured formats (like Data Frames).	</a:t>
            </a:r>
          </a:p>
          <a:p>
            <a:pPr algn="justLow"/>
            <a:r>
              <a:rPr lang="en-GB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Storage</a:t>
            </a:r>
          </a:p>
          <a:p>
            <a:pPr marL="0" indent="0" algn="justLow">
              <a:buNone/>
            </a:pPr>
            <a:r>
              <a:rPr lang="en-GB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Stored the transformed data into a relational database (MySQL).</a:t>
            </a:r>
          </a:p>
          <a:p>
            <a:pPr algn="justLow"/>
            <a:r>
              <a:rPr lang="en-GB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</a:t>
            </a:r>
          </a:p>
          <a:p>
            <a:pPr marL="457200" lvl="1" indent="0" algn="justLow">
              <a:buNone/>
            </a:pPr>
            <a:r>
              <a:rPr lang="en-GB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Analysed transaction trends, categories, states, districts, and more.</a:t>
            </a:r>
          </a:p>
          <a:p>
            <a:pPr marL="457200" lvl="1" indent="0" algn="justLow">
              <a:buNone/>
            </a:pPr>
            <a:r>
              <a:rPr lang="en-GB" sz="9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Created graphs, charts, or summaries for better understanding using </a:t>
            </a:r>
            <a:r>
              <a:rPr lang="en-GB" sz="96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Streamlit</a:t>
            </a:r>
            <a:endParaRPr lang="en-GB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Low">
              <a:buNone/>
            </a:pPr>
            <a:endParaRPr lang="en-GB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Low">
              <a:buNone/>
            </a:pPr>
            <a:r>
              <a:rPr lang="en-GB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457200" lvl="1" indent="0">
              <a:buNone/>
            </a:pPr>
            <a:endParaRPr lang="en-GB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dirty="0"/>
              <a:t>	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br>
              <a:rPr lang="en-GB" sz="4900" dirty="0"/>
            </a:br>
            <a:br>
              <a:rPr lang="en-GB" dirty="0"/>
            </a:b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746760" y="819785"/>
            <a:ext cx="9458325" cy="5140960"/>
          </a:xfrm>
        </p:spPr>
        <p:txBody>
          <a:bodyPr>
            <a:noAutofit/>
          </a:bodyPr>
          <a:lstStyle/>
          <a:p>
            <a:pPr algn="just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just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Case 1: Decoding Transaction Dynamics</a:t>
            </a:r>
          </a:p>
          <a:p>
            <a:pPr algn="just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Case 2: Device Dominance &amp; Engagement</a:t>
            </a:r>
          </a:p>
          <a:p>
            <a:pPr algn="just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3: Insurance Penetration &amp; Growth</a:t>
            </a:r>
          </a:p>
          <a:p>
            <a:pPr algn="just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4: Market Expansion Strategy</a:t>
            </a:r>
          </a:p>
          <a:p>
            <a:pPr algn="just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5: </a:t>
            </a:r>
            <a:r>
              <a:rPr lang="en-GB" sz="24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Engagement and Growth Strategy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400" b="1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Phone Pe is one of India’s leading digital payment platforms, enabling users to make secure and convenient financial transactions .</a:t>
            </a:r>
          </a:p>
          <a:p>
            <a:pPr marL="0" indent="0">
              <a:buNone/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aims to explore and analyse transaction data from Phone Pe across various states and categories, providing insights into usage patterns, transaction volumes, and regional trends.</a:t>
            </a:r>
          </a:p>
          <a:p>
            <a:pPr marL="0" indent="0">
              <a:buNone/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 this project, we seek to highlight key trends, visualize data, and draw meaningful conclusions from Phone Pe transaction records.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Use Case 1: Decoding Transaction</a:t>
            </a:r>
            <a:b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7424" y="2381691"/>
            <a:ext cx="8946541" cy="4195481"/>
          </a:xfrm>
        </p:spPr>
        <p:txBody>
          <a:bodyPr/>
          <a:lstStyle/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r>
              <a:rPr lang="en-IN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Analyse transaction patterns across states, quarters, and categories.</a:t>
            </a:r>
          </a:p>
          <a:p>
            <a:pPr marL="0" indent="0">
              <a:buNone/>
            </a:pPr>
            <a:r>
              <a:rPr lang="en-IN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</a:p>
          <a:p>
            <a:pPr marL="0" indent="0">
              <a:buNone/>
            </a:pPr>
            <a:r>
              <a:rPr lang="en-IN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growth, stagnation, or decline trends.</a:t>
            </a:r>
          </a:p>
          <a:p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Visualisation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1103313" y="1759467"/>
            <a:ext cx="4396338" cy="576262"/>
          </a:xfrm>
        </p:spPr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Transaction Amount Trend by State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>
          <a:xfrm>
            <a:off x="5731917" y="1718420"/>
            <a:ext cx="4396339" cy="576262"/>
          </a:xfrm>
        </p:spPr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Transaction Amount Trend by Transaction type</a:t>
            </a:r>
          </a:p>
        </p:txBody>
      </p:sp>
      <p:pic>
        <p:nvPicPr>
          <p:cNvPr id="3" name="Content Placeholder 2" descr="newplot (1)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77850" y="2335530"/>
            <a:ext cx="4853940" cy="4260850"/>
          </a:xfrm>
          <a:prstGeom prst="rect">
            <a:avLst/>
          </a:prstGeom>
        </p:spPr>
      </p:pic>
      <p:pic>
        <p:nvPicPr>
          <p:cNvPr id="9" name="Content Placeholder 8" descr="newplot"/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5654675" y="2423160"/>
            <a:ext cx="6250940" cy="3855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2: Device Dominance and</a:t>
            </a:r>
            <a:b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marL="0" indent="0">
              <a:buNone/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app usage behaviour by device brand and region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Visualisation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412240"/>
            <a:ext cx="4396338" cy="576262"/>
          </a:xfrm>
        </p:spPr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 Brands by Total Users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38764" y="1412281"/>
            <a:ext cx="4396339" cy="576262"/>
          </a:xfrm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 Opens vs Registered Users</a:t>
            </a:r>
          </a:p>
        </p:txBody>
      </p:sp>
      <p:pic>
        <p:nvPicPr>
          <p:cNvPr id="6" name="Content Placeholder 5" descr="newplot (3)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55650" y="2430145"/>
            <a:ext cx="5208270" cy="3050540"/>
          </a:xfrm>
          <a:prstGeom prst="rect">
            <a:avLst/>
          </a:prstGeom>
        </p:spPr>
      </p:pic>
      <p:pic>
        <p:nvPicPr>
          <p:cNvPr id="8" name="Content Placeholder 7" descr="newplot (4)"/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842760" y="2430145"/>
            <a:ext cx="4869815" cy="30511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Case 3: Insurance Penetration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Assess adoption of insurance products and identify growth opportunities</a:t>
            </a:r>
            <a:r>
              <a:rPr lang="en-GB" sz="2400" dirty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9207" y="365125"/>
            <a:ext cx="10515600" cy="1325563"/>
          </a:xfrm>
        </p:spPr>
        <p:txBody>
          <a:bodyPr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Visualisation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8498" y="1491615"/>
            <a:ext cx="4396338" cy="576262"/>
          </a:xfrm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States by Insurance Adoption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3485" y="1491615"/>
            <a:ext cx="4396339" cy="576262"/>
          </a:xfrm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Insurance vs User Penetration Ratio</a:t>
            </a:r>
          </a:p>
        </p:txBody>
      </p:sp>
      <p:pic>
        <p:nvPicPr>
          <p:cNvPr id="6" name="Content Placeholder 5" descr="newplot (6)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38480" y="2265680"/>
            <a:ext cx="4961255" cy="3128010"/>
          </a:xfrm>
          <a:prstGeom prst="rect">
            <a:avLst/>
          </a:prstGeom>
        </p:spPr>
      </p:pic>
      <p:pic>
        <p:nvPicPr>
          <p:cNvPr id="8" name="Content Placeholder 7" descr="newplot (7)"/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096000" y="2265680"/>
            <a:ext cx="5866765" cy="312801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Case 4: Market Expansion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Analyse transaction trends to guide regional expansion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Visualisation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9731" y="1583055"/>
            <a:ext cx="4396338" cy="576262"/>
          </a:xfrm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Size vs Frequency (by State)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6869" y="1582891"/>
            <a:ext cx="4396339" cy="576262"/>
          </a:xfrm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Coverage by State (Transaction Amount)</a:t>
            </a:r>
          </a:p>
        </p:txBody>
      </p:sp>
      <p:pic>
        <p:nvPicPr>
          <p:cNvPr id="6" name="Content Placeholder 5" descr="newplot (8)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04825" y="2372360"/>
            <a:ext cx="4994910" cy="3655060"/>
          </a:xfrm>
          <a:prstGeom prst="rect">
            <a:avLst/>
          </a:prstGeom>
        </p:spPr>
      </p:pic>
      <p:pic>
        <p:nvPicPr>
          <p:cNvPr id="8" name="Content Placeholder 7" descr="newplot (9)"/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5654675" y="2372360"/>
            <a:ext cx="5167630" cy="36550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5: </a:t>
            </a:r>
            <a:r>
              <a:rPr lang="en-GB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Engagement and Growth Strategy</a:t>
            </a: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marL="0" indent="0">
              <a:buNone/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ncrease user retention, boost active usage, and drive user base expansion through targeted strategies and initiatives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Visualisation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4305" y="1982313"/>
            <a:ext cx="4396338" cy="576262"/>
          </a:xfrm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 Opens to Registered Users Ratio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71637" y="1847303"/>
            <a:ext cx="4396339" cy="576262"/>
          </a:xfrm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Growth Strategy: Users vs Engagement</a:t>
            </a:r>
          </a:p>
        </p:txBody>
      </p:sp>
      <p:pic>
        <p:nvPicPr>
          <p:cNvPr id="6" name="Content Placeholder 5" descr="newplot (10)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43560" y="2748915"/>
            <a:ext cx="4956175" cy="3487420"/>
          </a:xfrm>
          <a:prstGeom prst="rect">
            <a:avLst/>
          </a:prstGeom>
        </p:spPr>
      </p:pic>
      <p:pic>
        <p:nvPicPr>
          <p:cNvPr id="8" name="Content Placeholder 7" descr="newplot (11)"/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475730" y="2748915"/>
            <a:ext cx="4592320" cy="34874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Phone pe transaction insight analyses the transaction trends, user behaviour, and regional usage patterns on Phone Pe.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Steady increase in digital transactions, especially in Tier 2 and Tier 3 cities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Karnataka, Maharashtra, and Uttar Pradesh show highest transaction volumes.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recharges, utility bill payments, and peer-to-peer transfers dominate.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29430" y="1661795"/>
            <a:ext cx="2478405" cy="942340"/>
          </a:xfrm>
          <a:ln w="635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>
            <a:scene3d>
              <a:camera prst="orthographicFront"/>
              <a:lightRig rig="threePt" dir="t"/>
            </a:scene3d>
          </a:bodyPr>
          <a:lstStyle/>
          <a:p>
            <a:r>
              <a:rPr lang="en-GB" b="1" dirty="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ange Waves">
  <a:themeElements>
    <a:clrScheme name="Orang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C73109"/>
      </a:accent1>
      <a:accent2>
        <a:srgbClr val="FF5050"/>
      </a:accent2>
      <a:accent3>
        <a:srgbClr val="FFFFFF"/>
      </a:accent3>
      <a:accent4>
        <a:srgbClr val="000000"/>
      </a:accent4>
      <a:accent5>
        <a:srgbClr val="E0ADAA"/>
      </a:accent5>
      <a:accent6>
        <a:srgbClr val="E74848"/>
      </a:accent6>
      <a:hlink>
        <a:srgbClr val="4D4D4D"/>
      </a:hlink>
      <a:folHlink>
        <a:srgbClr val="777777"/>
      </a:folHlink>
    </a:clrScheme>
    <a:fontScheme name="Orang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Orang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C73109"/>
        </a:accent1>
        <a:accent2>
          <a:srgbClr val="FF5050"/>
        </a:accent2>
        <a:accent3>
          <a:srgbClr val="FFFFFF"/>
        </a:accent3>
        <a:accent4>
          <a:srgbClr val="000000"/>
        </a:accent4>
        <a:accent5>
          <a:srgbClr val="E0ADAA"/>
        </a:accent5>
        <a:accent6>
          <a:srgbClr val="E74848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0</TotalTime>
  <Words>451</Words>
  <Application>Microsoft Office PowerPoint</Application>
  <PresentationFormat>Widescreen</PresentationFormat>
  <Paragraphs>75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Times New Roman</vt:lpstr>
      <vt:lpstr>Wingdings</vt:lpstr>
      <vt:lpstr>Orange Waves</vt:lpstr>
      <vt:lpstr>PHONEPE TRANSACTION INSIGHTS</vt:lpstr>
      <vt:lpstr>Project work flow</vt:lpstr>
      <vt:lpstr>  </vt:lpstr>
      <vt:lpstr>Introduction</vt:lpstr>
      <vt:lpstr>Business Use Case 1: Decoding Transaction Dynamics</vt:lpstr>
      <vt:lpstr>Visualisation</vt:lpstr>
      <vt:lpstr>Case 2: Device Dominance and Engagement</vt:lpstr>
      <vt:lpstr>Visualisation</vt:lpstr>
      <vt:lpstr> Case 3: Insurance Penetration Analysis</vt:lpstr>
      <vt:lpstr>Visualisation</vt:lpstr>
      <vt:lpstr> Case 4: Market Expansion Strategy</vt:lpstr>
      <vt:lpstr>Visualisation</vt:lpstr>
      <vt:lpstr>Case 5: User Engagement and Growth Strategy</vt:lpstr>
      <vt:lpstr>Visualisation</vt:lpstr>
      <vt:lpstr>Summary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PHONEPE TRANSACTION INSIGHTS</dc:title>
  <dc:creator>Rakesh Radhakrishnan</dc:creator>
  <cp:lastModifiedBy>Jayaseeli S</cp:lastModifiedBy>
  <cp:revision>5</cp:revision>
  <dcterms:created xsi:type="dcterms:W3CDTF">2025-05-25T16:56:00Z</dcterms:created>
  <dcterms:modified xsi:type="dcterms:W3CDTF">2026-09-23T04:51:00Z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07EEFE3D7A6447DEB526DC54C2F032AF_13</vt:lpwstr>
  </property>
  <property fmtid="{D5CDD505-2E9C-101B-9397-08002B2CF9AE}" pid="3" name="KSOProductBuildVer">
    <vt:lpwstr>1033-12.2.0.22222</vt:lpwstr>
  </property>
</Properties>
</file>